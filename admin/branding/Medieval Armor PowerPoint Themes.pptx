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notesSlides/notesSlide1.xml" Type="http://schemas.openxmlformats.org/officeDocument/2006/relationships/notesSlide"/><Relationship Id="rId14" Target="notesSlides/notesSlide2.xml" Type="http://schemas.openxmlformats.org/officeDocument/2006/relationships/notesSlide"/><Relationship Id="rId15" Target="notesSlides/notesSlide3.xml" Type="http://schemas.openxmlformats.org/officeDocument/2006/relationships/notesSlide"/><Relationship Id="rId16" Target="notesSlides/notesSlide4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390" t="0" r="-39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3810000" cy="6858000"/>
          </a:xfrm>
          <a:prstGeom prst="roundRect">
            <a:avLst>
              <a:gd name="adj" fmla="val 0"/>
            </a:avLst>
          </a:prstGeom>
          <a:solidFill>
            <a:srgbClr val="8A342D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556000" y="0"/>
            <a:ext cx="254000" cy="6858000"/>
          </a:xfrm>
          <a:prstGeom prst="roundRect">
            <a:avLst>
              <a:gd name="adj" fmla="val 0"/>
            </a:avLst>
          </a:prstGeom>
          <a:solidFill>
            <a:srgbClr val="ECC86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572000" y="2540000"/>
            <a:ext cx="711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5200">
                <a:solidFill>
                  <a:srgbClr val="41362F"/>
                </a:solidFill>
                <a:latin typeface="Bebas Neue"/>
                <a:ea typeface="Bebas Neue"/>
                <a:cs typeface="Bebas Neue"/>
                <a:sym typeface="Bebas Neue"/>
              </a:rPr>
              <a:t>Crusader Banner Theme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572000" y="38100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A bold, historic template design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0" y="6096000"/>
            <a:ext cx="711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4665E">
                    <a:alpha val="70196"/>
                  </a:srgbClr>
                </a:solidFill>
                <a:latin typeface="DM Sans 9pt"/>
                <a:ea typeface="DM Sans 9pt"/>
                <a:cs typeface="DM Sans 9pt"/>
                <a:sym typeface="DM Sans 9pt"/>
              </a:rPr>
              <a:t>PRESENTATION TEMPLATE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390" t="0" r="-39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41362F"/>
                </a:solidFill>
                <a:latin typeface="Bebas Neue"/>
                <a:ea typeface="Bebas Neue"/>
                <a:cs typeface="Bebas Neue"/>
                <a:sym typeface="Bebas Neue"/>
              </a:rPr>
              <a:t>COLORS &amp; TYPOGRAPHY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41362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429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41362F"/>
                </a:solidFill>
                <a:latin typeface="Bebas Neue"/>
                <a:ea typeface="Bebas Neue"/>
                <a:cs typeface="Bebas Neue"/>
                <a:sym typeface="Bebas Neue"/>
              </a:rPr>
              <a:t>Title Brown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429000" y="1778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7466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429000" y="3429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4665E"/>
                </a:solidFill>
                <a:latin typeface="Bebas Neue"/>
                <a:ea typeface="Bebas Neue"/>
                <a:cs typeface="Bebas Neue"/>
                <a:sym typeface="Bebas Neue"/>
              </a:rPr>
              <a:t>Body Taupe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0" y="1778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ECC86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3429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41362F"/>
                </a:solidFill>
                <a:latin typeface="Bebas Neue"/>
                <a:ea typeface="Bebas Neue"/>
                <a:cs typeface="Bebas Neue"/>
                <a:sym typeface="Bebas Neue"/>
              </a:rPr>
              <a:t>Banner Gold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63000" y="1778000"/>
            <a:ext cx="2286000" cy="1524000"/>
          </a:xfrm>
          <a:prstGeom prst="roundRect">
            <a:avLst>
              <a:gd name="adj" fmla="val 0"/>
            </a:avLst>
          </a:prstGeom>
          <a:solidFill>
            <a:srgbClr val="8A342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763000" y="3429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8A342D"/>
                </a:solidFill>
                <a:latin typeface="Bebas Neue"/>
                <a:ea typeface="Bebas Neue"/>
                <a:cs typeface="Bebas Neue"/>
                <a:sym typeface="Bebas Neue"/>
              </a:rPr>
              <a:t>Heraldic Red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445000"/>
            <a:ext cx="508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41362F"/>
                </a:solidFill>
                <a:latin typeface="Bebas Neue"/>
                <a:ea typeface="Bebas Neue"/>
                <a:cs typeface="Bebas Neue"/>
                <a:sym typeface="Bebas Neue"/>
              </a:rPr>
              <a:t>BEBAS NEUE</a:t>
            </a:r>
            <a:r>
              <a:rPr lang="en-US" b="false" i="false" strike="noStrike" u="none" sz="18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Used for all major headlines and section titles. A tall, condensed sans-serif that echoes the striking verticality of medieval banners.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4445000"/>
            <a:ext cx="508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41362F"/>
                </a:solidFill>
                <a:latin typeface="DM Sans 9pt"/>
                <a:ea typeface="DM Sans 9pt"/>
                <a:cs typeface="DM Sans 9pt"/>
                <a:sym typeface="DM Sans 9pt"/>
              </a:rPr>
              <a:t>DM Sans</a:t>
            </a:r>
            <a:r>
              <a:rPr lang="en-US" b="false" i="false" strike="noStrike" u="none" sz="18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Used for body copy and readable text blocks. A clean, geometric sans that provides a highly legible contrast to the dramatic headlines.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390" t="0" r="-39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7000" cy="6858000"/>
          </a:xfrm>
          <a:prstGeom prst="roundRect">
            <a:avLst>
              <a:gd name="adj" fmla="val 0"/>
            </a:avLst>
          </a:prstGeom>
          <a:solidFill>
            <a:srgbClr val="8A342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27000" y="0"/>
            <a:ext cx="50800" cy="6858000"/>
          </a:xfrm>
          <a:prstGeom prst="roundRect">
            <a:avLst>
              <a:gd name="adj" fmla="val 0"/>
            </a:avLst>
          </a:prstGeom>
          <a:solidFill>
            <a:srgbClr val="ECC86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4200">
                <a:solidFill>
                  <a:srgbClr val="41362F"/>
                </a:solidFill>
                <a:latin typeface="Bebas Neue"/>
                <a:ea typeface="Bebas Neue"/>
                <a:cs typeface="Bebas Neue"/>
                <a:sym typeface="Bebas Neue"/>
              </a:rPr>
              <a:t>CONTENT DEMONSTRATION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080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2800">
                <a:solidFill>
                  <a:srgbClr val="41362F"/>
                </a:solidFill>
                <a:latin typeface="Bebas Neue"/>
                <a:ea typeface="Bebas Neue"/>
                <a:cs typeface="Bebas Neue"/>
                <a:sym typeface="Bebas Neue"/>
              </a:rPr>
              <a:t>THE CORE TENETS</a:t>
            </a:r>
            <a:r>
              <a:rPr lang="en-US" b="false" i="false" strike="noStrike" u="none" sz="20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20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This layout shows how standard text and bullet points render in the theme. The typography provides immediate visual hierarchy.</a:t>
            </a:r>
          </a:p>
          <a:p>
            <a:pPr algn="l" indent="-254000" marL="254000">
              <a:lnSpc>
                <a:spcPct val="116666"/>
              </a:lnSpc>
              <a:buClr>
                <a:srgbClr val="74665E"/>
              </a:buClr>
              <a:buChar char="•"/>
            </a:pPr>
            <a:r>
              <a:rPr lang="en-US" b="true" i="false" strike="noStrike" u="none" sz="20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Valor:</a:t>
            </a:r>
            <a:r>
              <a:rPr lang="en-US" b="false" i="false" strike="noStrike" u="none" sz="20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 The strength to stand</a:t>
            </a:r>
          </a:p>
          <a:p>
            <a:pPr algn="l" indent="-254000" marL="254000">
              <a:lnSpc>
                <a:spcPct val="116666"/>
              </a:lnSpc>
              <a:buClr>
                <a:srgbClr val="74665E"/>
              </a:buClr>
              <a:buChar char="•"/>
            </a:pPr>
            <a:r>
              <a:rPr lang="en-US" b="true" i="false" strike="noStrike" u="none" sz="20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Honor:</a:t>
            </a:r>
            <a:r>
              <a:rPr lang="en-US" b="false" i="false" strike="noStrike" u="none" sz="20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 The code to follow</a:t>
            </a:r>
          </a:p>
          <a:p>
            <a:pPr algn="l" indent="-254000" marL="254000">
              <a:lnSpc>
                <a:spcPct val="116666"/>
              </a:lnSpc>
              <a:buClr>
                <a:srgbClr val="74665E"/>
              </a:buClr>
              <a:buChar char="•"/>
            </a:pPr>
            <a:r>
              <a:rPr lang="en-US" b="true" i="false" strike="noStrike" u="none" sz="20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Resolve:</a:t>
            </a:r>
            <a:r>
              <a:rPr lang="en-US" b="false" i="false" strike="noStrike" u="none" sz="20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 The will to endure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04000" y="1524000"/>
            <a:ext cx="4572000" cy="1905000"/>
          </a:xfrm>
          <a:prstGeom prst="roundRect">
            <a:avLst>
              <a:gd name="adj" fmla="val 2666"/>
            </a:avLst>
          </a:prstGeom>
          <a:solidFill>
            <a:srgbClr val="FFFFFF">
              <a:alpha val="80000"/>
            </a:srgbClr>
          </a:solidFill>
          <a:ln w="25400" cmpd="sng" cap="flat">
            <a:solidFill>
              <a:srgbClr val="ECC865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t" rtlCol="false" anchorCtr="false" vert="horz" wrap="square" lIns="254000" rIns="254000" tIns="254000" bIns="25400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8A342D"/>
                </a:solidFill>
                <a:latin typeface="Bebas Neue"/>
                <a:ea typeface="Bebas Neue"/>
                <a:cs typeface="Bebas Neue"/>
                <a:sym typeface="Bebas Neue"/>
              </a:rPr>
              <a:t>HIGHLIGHT CARD</a:t>
            </a:r>
            <a:r>
              <a:rPr lang="en-US" b="false" i="false" strike="noStrike" u="none" sz="16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74665E"/>
                </a:solidFill>
                <a:latin typeface="DM Sans 9pt"/>
                <a:ea typeface="DM Sans 9pt"/>
                <a:cs typeface="DM Sans 9pt"/>
                <a:sym typeface="DM Sans 9pt"/>
              </a:rPr>
              <a:t>Use cards like this to call out key metrics, important quotes, or summary takeaways. The light border adds definition without dominating.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3810000"/>
            <a:ext cx="4572000" cy="1905000"/>
          </a:xfrm>
          <a:prstGeom prst="roundRect">
            <a:avLst>
              <a:gd name="adj" fmla="val 2666"/>
            </a:avLst>
          </a:prstGeom>
          <a:solidFill>
            <a:srgbClr val="41362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15000"/>
              </a:srgbClr>
            </a:outerShdw>
          </a:effectLst>
        </p:spPr>
        <p:txBody>
          <a:bodyPr anchor="t" rtlCol="false" anchorCtr="false" vert="horz" wrap="square" lIns="254000" rIns="254000" tIns="254000" bIns="254000">
            <a:normAutofit fontScale="100000" lnSpcReduction="20000"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ECC865"/>
                </a:solidFill>
                <a:latin typeface="Bebas Neue"/>
                <a:ea typeface="Bebas Neue"/>
                <a:cs typeface="Bebas Neue"/>
                <a:sym typeface="Bebas Neue"/>
              </a:rPr>
              <a:t>INVERTED CARD</a:t>
            </a:r>
            <a:r>
              <a:rPr lang="en-US" b="false" i="false" strike="noStrike" u="none" sz="1600">
                <a:solidFill>
                  <a:srgbClr val="D6CFC2"/>
                </a:solidFill>
                <a:latin typeface="DM Sans 9pt"/>
                <a:ea typeface="DM Sans 9pt"/>
                <a:cs typeface="DM Sans 9pt"/>
                <a:sym typeface="DM Sans 9pt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D6CFC2"/>
                </a:solidFill>
                <a:latin typeface="DM Sans 9pt"/>
                <a:ea typeface="DM Sans 9pt"/>
                <a:cs typeface="DM Sans 9pt"/>
                <a:sym typeface="DM Sans 9pt"/>
              </a:rPr>
              <a:t>Dark backgrounds with light text create strong focal points on the slide. Perfect for the most critical piece of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-390" t="0" r="-39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826000" y="0"/>
            <a:ext cx="7366000" cy="6858000"/>
          </a:xfrm>
          <a:prstGeom prst="roundRect">
            <a:avLst>
              <a:gd name="adj" fmla="val 0"/>
            </a:avLst>
          </a:prstGeom>
          <a:solidFill>
            <a:srgbClr val="41362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0" y="0"/>
            <a:ext cx="254000" cy="6858000"/>
          </a:xfrm>
          <a:prstGeom prst="roundRect">
            <a:avLst>
              <a:gd name="adj" fmla="val 0"/>
            </a:avLst>
          </a:prstGeom>
          <a:solidFill>
            <a:srgbClr val="8A342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588000" y="2794000"/>
            <a:ext cx="584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2000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7200">
                <a:solidFill>
                  <a:srgbClr val="D6CFC2"/>
                </a:solidFill>
                <a:latin typeface="Bebas Neue"/>
                <a:ea typeface="Bebas Neue"/>
                <a:cs typeface="Bebas Neue"/>
                <a:sym typeface="Bebas Neue"/>
              </a:rPr>
              <a:t>THE END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40640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ECC865"/>
                </a:solidFill>
                <a:latin typeface="DM Sans 9pt"/>
                <a:ea typeface="DM Sans 9pt"/>
                <a:cs typeface="DM Sans 9pt"/>
                <a:sym typeface="DM Sans 9pt"/>
              </a:rPr>
              <a:t>A Crusader Banner Theme Demonstration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